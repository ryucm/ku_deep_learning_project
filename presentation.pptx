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ple SD Gothic Neo"/>
              </a:rPr>
              <a:t>패션 시대 분류 및
코디 추천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  <a:latin typeface="Apple SD Gothic Neo"/>
              </a:rPr>
              <a:t>Fashion Era Classification &amp; Outfit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709160"/>
            <a:ext cx="5486400" cy="36576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88"/>
                </a:solidFill>
                <a:latin typeface="Apple SD Gothic Neo"/>
              </a:rPr>
              <a:t>류창민  |  딥러닝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Apple SD Gothic Neo"/>
              </a:rPr>
              <a:t>AI Hub 연도별 패션 데이터  |  PyTorch 2.5.1  |  Apple M4 Pro 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Apple SD Gothic Neo"/>
              </a:rPr>
              <a:t>패션 시대 분류 및 코디 추천 프로젝트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26517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6213E"/>
                </a:solidFill>
                <a:latin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233"/>
                </a:solidFill>
                <a:latin typeface="Apple SD Gothic Neo"/>
              </a:rPr>
              <a:t>프로젝트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926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Apple SD Gothic Neo"/>
              </a:rPr>
              <a:t>• 프로젝트 목표
• 시스템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2" y="914400"/>
            <a:ext cx="26517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10058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6213E"/>
                </a:solidFill>
                <a:latin typeface="Apple SD Gothic Ne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233"/>
                </a:solidFill>
                <a:latin typeface="Apple SD Gothic Neo"/>
              </a:rPr>
              <a:t>데이터 파이프라인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2926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Apple SD Gothic Neo"/>
              </a:rPr>
              <a:t>• 학습 데이터 준비
• 데이터셋 구성 및 전처리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914400"/>
            <a:ext cx="26517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4" y="10058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6213E"/>
                </a:solidFill>
                <a:latin typeface="Apple SD Gothic Ne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233"/>
                </a:solidFill>
                <a:latin typeface="Apple SD Gothic Neo"/>
              </a:rPr>
              <a:t>모델 구축 및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926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Apple SD Gothic Neo"/>
              </a:rPr>
              <a:t>• 모델 설계
• 학습 및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9096" y="914400"/>
            <a:ext cx="26517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9096" y="10058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6213E"/>
                </a:solidFill>
                <a:latin typeface="Apple SD Gothic Ne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233"/>
                </a:solidFill>
                <a:latin typeface="Apple SD Gothic Neo"/>
              </a:rPr>
              <a:t>마무리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926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Apple SD Gothic Neo"/>
              </a:rPr>
              <a:t>• 프로젝트 결과
• 향후 발전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I. 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01. 프로젝트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  <a:latin typeface="Apple SD Gothic Neo"/>
              </a:rPr>
              <a:t>사용자의 옷 이미지를 입력받아 스타일 벡터를 추출하고
패션 데이터셋과의 유사도를 기반으로 어울리는 코디를 추천합니다.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33832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2996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시대 분류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432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연도별 패션 이미지로
CNN을 학습하여
1990 / 2000 / 2010 / 2019
스타일 패턴 파악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011680"/>
            <a:ext cx="33832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2996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스타일 벡터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7432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학습된 CNN의 encode()
메서드로 이미지를
512-dim 스타일 벡터로
변환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011680"/>
            <a:ext cx="33832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02996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코디 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7432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입력 이미지 벡터와
데이터셋 전체 벡터의
코사인 유사도 계산
→ Top-K 코디 반환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99632"/>
            <a:ext cx="12188952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236208"/>
            <a:ext cx="11640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단순한 분류를 넘어 스타일 유사도 기반의 실용적인 코디 추천 시스템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I. 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02.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  <a:latin typeface="Apple SD Gothic Neo"/>
              </a:rPr>
              <a:t>데이터 전처리, 모델 학습, 특징 추출, 추천이 각각 독립적인 모듈로 구성됩니다.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4688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468880" cy="53035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213E"/>
                </a:solidFill>
                <a:latin typeface="Apple SD Gothic Neo"/>
              </a:rPr>
              <a:t>데이터 준비
&amp; 전처리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3000×4000 → 256×256
오프라인 리사이즈
데이터 증강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2461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45920"/>
            <a:ext cx="24688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468880" cy="53035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677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213E"/>
                </a:solidFill>
                <a:latin typeface="Apple SD Gothic Neo"/>
              </a:rPr>
              <a:t>모델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CustomCNN / ResNet18
2단계 Transfer Learning
체크포인트 자동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2461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24688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468880" cy="53035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677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213E"/>
                </a:solidFill>
                <a:latin typeface="Apple SD Gothic Neo"/>
              </a:rPr>
              <a:t>특징 벡터 추출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encode() → 512-dim
21,985장 전체 인코딩
features.npy 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32461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645920"/>
            <a:ext cx="24688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645920"/>
            <a:ext cx="2468880" cy="53035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2677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213E"/>
                </a:solidFill>
                <a:latin typeface="Apple SD Gothic Neo"/>
              </a:rPr>
              <a:t>코디 추천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0175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코사인 유사도 계산
Top-K 검색
결과 시각화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77840"/>
            <a:ext cx="11457432" cy="47548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1441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213E"/>
                </a:solidFill>
                <a:latin typeface="Apple SD Gothic Neo"/>
              </a:rPr>
              <a:t>모델 저장 및 추적   |   best_resnet18.pth 자동 저장, Val Accuracy 모니터링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II. 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01. 패션 데이터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  <a:latin typeface="Apple SD Gothic Neo"/>
              </a:rPr>
              <a:t>출처: AI Hub — 연도별 패션 선호도 파악 및 추천 데이터 (CC BY-SA)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560320" cy="34747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데이터 준비 : AI Hub 패션 데이터셋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92024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852160"/>
              </a:tblGrid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이미지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Training 14,438장  /  Validation 7,547장  (총 21,985장)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원본 해상도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3000 × 4000 px (패션 전신 사진)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레이블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촬영 연도 4클래스 (1990 / 2000 / 2010 /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성별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남성 / 여성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부가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스타일명 27종 (normcore, hiphop, metrosexual 등), 사용자 설문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03920" y="1527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2A8"/>
                </a:solidFill>
                <a:latin typeface="Apple SD Gothic Neo"/>
              </a:rPr>
              <a:t>데이터 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965960"/>
            <a:ext cx="3383280" cy="1051560"/>
          </a:xfrm>
          <a:prstGeom prst="rect">
            <a:avLst/>
          </a:prstGeom>
          <a:solidFill>
            <a:srgbClr val="E8F2FC"/>
          </a:solidFill>
          <a:ln w="1016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202996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• 단순 카테고리가 아닌
  시대별 스타일 변화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154680"/>
            <a:ext cx="3383280" cy="1051560"/>
          </a:xfrm>
          <a:prstGeom prst="rect">
            <a:avLst/>
          </a:prstGeom>
          <a:solidFill>
            <a:srgbClr val="E8F2FC"/>
          </a:solidFill>
          <a:ln w="1016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32186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• 인접 연도(2010↔2019)는
  시각적 차이가 작아 난이도 높음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4343400"/>
            <a:ext cx="3383280" cy="1051560"/>
          </a:xfrm>
          <a:prstGeom prst="rect">
            <a:avLst/>
          </a:prstGeom>
          <a:solidFill>
            <a:srgbClr val="E8F2FC"/>
          </a:solidFill>
          <a:ln w="1016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440740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• 원본 3000×4000px →
  256×256 사전 리사이즈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II. 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02. 데이터셋 구성 및 전처리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</a:rPr>
              <a:t>1. 오프라인 사전 리사이즈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5544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원본 이미지
3000×4000px
79 GB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00200"/>
            <a:ext cx="15544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78308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256×256
사전 리사이즈
411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00200"/>
            <a:ext cx="15544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학습 시
CenterCrop
224×224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213E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213E"/>
                </a:solidFill>
                <a:latin typeface="Apple SD Gothic Neo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4436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• 학습 속도 5배 향상 (3.54 s/batch → 0.69 s/batch)
• 79 GB 원본 → 411 MB 리사이즈 데이터 (98.3% 절감)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0698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</a:rPr>
              <a:t>2. 학습 데이터 증강 (Data Augmentation)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72768"/>
            <a:ext cx="55778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367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2A8"/>
                </a:solidFill>
                <a:latin typeface="Apple SD Gothic Neo"/>
              </a:rPr>
              <a:t>RandomHorizontalFlip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568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좌우 반전  (p = 0.5)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487168"/>
            <a:ext cx="55778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51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2A8"/>
                </a:solidFill>
                <a:latin typeface="Apple SD Gothic Neo"/>
              </a:rPr>
              <a:t>RandomCrop(224, pad=16)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랜덤 크롭 (패딩 후 자름)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401568"/>
            <a:ext cx="55778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65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2A8"/>
                </a:solidFill>
                <a:latin typeface="Apple SD Gothic Neo"/>
              </a:rPr>
              <a:t>ColorJitter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856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밝기 / 대비 / 채도 무작위 변환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315968"/>
            <a:ext cx="55778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3799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2A8"/>
                </a:solidFill>
                <a:latin typeface="Apple SD Gothic Neo"/>
              </a:rPr>
              <a:t>Normalize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000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ImageNet mean / std 정규화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49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88"/>
                </a:solidFill>
                <a:latin typeface="Apple SD Gothic Neo"/>
              </a:rPr>
              <a:t>※ Validation / Test: CenterCrop(224) + Normalize만 적용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III. 모델 구축 및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01. 모델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32004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2. 모델 정의 (아키텍처)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53035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213E"/>
                </a:solidFill>
                <a:latin typeface="Apple SD Gothic Neo"/>
              </a:rPr>
              <a:t>CustomCNN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7788"/>
                </a:solidFill>
                <a:latin typeface="Apple SD Gothic Neo"/>
              </a:rPr>
              <a:t>From Scratch — 구조 이해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입력  (3 × 224 × 224)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213E"/>
                </a:solidFill>
                <a:latin typeface="Apple SD Gothic Neo"/>
              </a:rPr>
              <a:t>ConvBlock ×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88"/>
                </a:solidFill>
                <a:latin typeface="Apple SD Gothic Neo"/>
              </a:rPr>
              <a:t>(Conv → BN → ReLU → MaxPool)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AdaptiveAvgPool → Flatten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354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FC(256→512) → ReLU → Dropout(0.5)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474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2A8"/>
                </a:solidFill>
                <a:latin typeface="Apple SD Gothic Neo"/>
              </a:rPr>
              <a:t>encode()  →  512-dim 벡터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595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213E"/>
                </a:solidFill>
                <a:latin typeface="Apple SD Gothic Neo"/>
              </a:rPr>
              <a:t>FC(512→4)  →  클래스 확률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36192"/>
            <a:ext cx="53949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8191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213E"/>
                </a:solidFill>
                <a:latin typeface="Apple SD Gothic Neo"/>
              </a:rPr>
              <a:t>ResNet18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7788"/>
                </a:solidFill>
                <a:latin typeface="Apple SD Gothic Neo"/>
              </a:rPr>
              <a:t>Transfer Learning — 성능 향상 목적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입력  (3 × 224 × 224)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99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213E"/>
                </a:solidFill>
                <a:latin typeface="Apple SD Gothic Neo"/>
              </a:rPr>
              <a:t>backbone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112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88"/>
                </a:solidFill>
                <a:latin typeface="Apple SD Gothic Neo"/>
              </a:rPr>
              <a:t>(ImageNet 사전학습 ResNet18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88"/>
                </a:solidFill>
                <a:latin typeface="Apple SD Gothic Neo"/>
              </a:rPr>
              <a:t> FC 레이어 제거)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354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Flatten  →  512-dim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47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2A8"/>
                </a:solidFill>
                <a:latin typeface="Apple SD Gothic Neo"/>
              </a:rPr>
              <a:t>encode()  →  512-dim 벡터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595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213E"/>
                </a:solidFill>
                <a:latin typeface="Apple SD Gothic Neo"/>
              </a:rPr>
              <a:t>FC(512→4)  →  클래스 확률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89904"/>
            <a:ext cx="11457432" cy="530352"/>
          </a:xfrm>
          <a:prstGeom prst="rect">
            <a:avLst/>
          </a:prstGeom>
          <a:solidFill>
            <a:srgbClr val="E8F2FC"/>
          </a:solidFill>
          <a:ln w="1016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144768"/>
            <a:ext cx="11091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213E"/>
                </a:solidFill>
                <a:latin typeface="Apple SD Gothic Neo"/>
              </a:rPr>
              <a:t>두 모델 모두 encode() 메서드로 512-dim 특징 벡터 추출 → 추천 시스템과 동일한 인터페이스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III. 모델 구축 및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01. 모델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384048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ResNet18 — 2단계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backbone 과적합 방지를 위해 2단계로 나눠 학습률을 제어합니다.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65960"/>
            <a:ext cx="53035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53035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8424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Stage 1  (5 epoch) — backbone 동결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ImageNet 사전학습 가중치 보호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backbone.requires_grad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7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FC 레이어(head)만 업데이트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039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head lr = 1e-3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65960"/>
            <a:ext cx="53035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53035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8424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Stage 2  (25 epoch) — 전체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420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backbone.requires_grad =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626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backbone lr = 1e-4  (사전학습 보존)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8327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head lr = 1e-3  (적극 학습)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039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Apple SD Gothic Neo"/>
              </a:rPr>
              <a:t>• 패션 도메인 적응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26280"/>
            <a:ext cx="11365992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445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공통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47488"/>
            <a:ext cx="281863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10235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2A8"/>
                </a:solidFill>
                <a:latin typeface="Apple SD Gothic Neo"/>
              </a:rPr>
              <a:t>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59552"/>
            <a:ext cx="26357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CrossEntropy
+ Label Smoothing 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5838" y="5047488"/>
            <a:ext cx="281863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5838" y="510235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2A8"/>
                </a:solidFill>
                <a:latin typeface="Apple SD Gothic Neo"/>
              </a:rPr>
              <a:t>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7278" y="5559552"/>
            <a:ext cx="26357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Adam
(weight_decay = 1e-4)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0196" y="5047488"/>
            <a:ext cx="281863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0196" y="510235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2A8"/>
                </a:solidFill>
                <a:latin typeface="Apple SD Gothic Neo"/>
              </a:rPr>
              <a:t>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1636" y="5559552"/>
            <a:ext cx="26357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CosineAnnealingLR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4553" y="5047488"/>
            <a:ext cx="281863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3" y="510235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2A8"/>
                </a:solidFill>
                <a:latin typeface="Apple SD Gothic Neo"/>
              </a:rPr>
              <a:t>Early Stopping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5993" y="5559552"/>
            <a:ext cx="26357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patience =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III. 모델 구축 및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02. 학습 및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8288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3. 훈련 및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329184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36192"/>
            <a:ext cx="329184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train_epoch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모델을 한 epoch 동안 학습
역전파로 파라미터 업데이트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432304"/>
            <a:ext cx="30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5928" y="1536192"/>
            <a:ext cx="329184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95928" y="1536192"/>
            <a:ext cx="329184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155448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084831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검증 세트 평가
Loss &amp; Accuracy 측정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32304"/>
            <a:ext cx="30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6213E"/>
                </a:solidFill>
                <a:latin typeface="Apple SD Gothic Neo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6096" y="1536192"/>
            <a:ext cx="329184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1536192"/>
            <a:ext cx="329184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155448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</a:rPr>
              <a:t>run_loop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084831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  <a:latin typeface="Apple SD Gothic Neo"/>
              </a:rPr>
              <a:t>N epoch 반복 실행
Early Stopping 포함
최적 모델 자동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22191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88"/>
                </a:solidFill>
                <a:latin typeface="Apple SD Gothic Neo"/>
              </a:rPr>
              <a:t>랜덤 기준선 (4클래스): 25.0%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4224528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03120"/>
                <a:gridCol w="1828800"/>
                <a:gridCol w="4389120"/>
              </a:tblGrid>
              <a:tr h="57150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모델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Best Val Acc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Train Acc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비고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150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CustomCNN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37.4%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~44%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Epoch 9 최고, 이후 과적합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ResNet18 (1단계)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42.5%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93.0%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Apple SD Gothic Neo"/>
                        </a:rPr>
                        <a:t>심각한 과적합 (Train-Val 갭 50%)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16213E"/>
                          </a:solidFill>
                          <a:latin typeface="Apple SD Gothic Neo"/>
                        </a:rPr>
                        <a:t>ResNet18 (2단계)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16213E"/>
                          </a:solidFill>
                          <a:latin typeface="Apple SD Gothic Neo"/>
                        </a:rPr>
                        <a:t>44.1%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ctr"/>
                      <a:r>
                        <a:rPr sz="1000" b="1">
                          <a:solidFill>
                            <a:srgbClr val="16213E"/>
                          </a:solidFill>
                          <a:latin typeface="Apple SD Gothic Neo"/>
                        </a:rPr>
                        <a:t>~65%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 wrap="square" lIns="73152"/>
                    <a:lstStyle/>
                    <a:p>
                      <a:pPr algn="l"/>
                      <a:r>
                        <a:rPr sz="1000" b="1">
                          <a:solidFill>
                            <a:srgbClr val="16213E"/>
                          </a:solidFill>
                          <a:latin typeface="Apple SD Gothic Neo"/>
                        </a:rPr>
                        <a:t>차등 학습률 + Label Smoothing 적용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III. 모델 구축 및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02. 학습 결과 — 혼동 행렬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  <a:latin typeface="Apple SD Gothic Neo"/>
              </a:rPr>
              <a:t>ResNet18 (2단계 Transfer Learning)  |  Val Accuracy: 44.1%</a:t>
            </a:r>
          </a:p>
        </p:txBody>
      </p:sp>
      <p:pic>
        <p:nvPicPr>
          <p:cNvPr id="6" name="Picture 5" descr="confusion_matrix_resnet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2768"/>
            <a:ext cx="6217920" cy="53296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5727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2A8"/>
                </a:solidFill>
                <a:latin typeface="Apple SD Gothic Neo"/>
              </a:rPr>
              <a:t>결과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2011680"/>
            <a:ext cx="4572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066543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  <a:latin typeface="Apple SD Gothic Neo"/>
              </a:rPr>
              <a:t>1990년대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77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다른 시대와 혼동 가장 큼
F1 = 0.36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3182112"/>
            <a:ext cx="4572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23697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  <a:latin typeface="Apple SD Gothic Neo"/>
              </a:rPr>
              <a:t>2000년대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54787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Recall 높음 (0.74) but Precision 낮음 (0.35)
→ 과잉 예측 경향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352544"/>
            <a:ext cx="4572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40740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  <a:latin typeface="Apple SD Gothic Neo"/>
              </a:rPr>
              <a:t>2010년대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71830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F1 = 0.48  (중간 성능)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5522976"/>
            <a:ext cx="4572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5778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  <a:latin typeface="Apple SD Gothic Neo"/>
              </a:rPr>
              <a:t>2019년대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888736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Apple SD Gothic Neo"/>
              </a:rPr>
              <a:t>Precision 높음 (0.65) but Recall 낮음 (0.31)
→ 과소 예측 경향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IV.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01. 프로젝트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  <a:latin typeface="Apple SD Gothic Neo"/>
              </a:rPr>
              <a:t>학습된 ResNet18으로 스타일 벡터를 추출하고, 코사인 유사도로 어울리는 코디를 추천합니다.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33172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233172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옷 이미지
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906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88"/>
                </a:solidFill>
                <a:latin typeface="Apple SD Gothic Neo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213E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600200"/>
            <a:ext cx="233172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627632"/>
            <a:ext cx="233172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encode()
→ 512-dim
벡터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0906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88"/>
                </a:solidFill>
                <a:latin typeface="Apple SD Gothic Neo"/>
              </a:rPr>
              <a:t>특징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217627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213E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600200"/>
            <a:ext cx="233172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627632"/>
            <a:ext cx="233172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코사인 유사도
계산
(29,532장)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0906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88"/>
                </a:solidFill>
                <a:latin typeface="Apple SD Gothic Neo"/>
              </a:rPr>
              <a:t>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17627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213E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600200"/>
            <a:ext cx="233172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627632"/>
            <a:ext cx="233172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Top-5
코디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30906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88"/>
                </a:solidFill>
                <a:latin typeface="Apple SD Gothic Neo"/>
              </a:rPr>
              <a:t>출력</a:t>
            </a:r>
          </a:p>
        </p:txBody>
      </p:sp>
      <p:pic>
        <p:nvPicPr>
          <p:cNvPr id="21" name="Picture 20" descr="recommend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520440"/>
            <a:ext cx="11365992" cy="2367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BBDD"/>
                </a:solidFill>
                <a:latin typeface="Apple SD Gothic Neo"/>
              </a:rPr>
              <a:t>IV.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144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02. 향후 발전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  <a:latin typeface="Apple SD Gothic Neo"/>
              </a:rPr>
              <a:t>패션 시대 분류 및 스타일 추천 시스템을 기반으로 다양한 서비스로 확장할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64208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01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정확도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ViT / EfficientNet 등
최신 모델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64208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801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멀티모달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22576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텍스트 + 이미지
결합 추천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664208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01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개인화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322576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사용자 이력 기반
선호도 학습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23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트렌드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SNS 크롤링으로
최신 트렌드 반영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886200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023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실시간 서비스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544568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FastAPI 배포
모바일 앱 연동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47472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023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2A8"/>
                </a:solidFill>
                <a:latin typeface="Apple SD Gothic Neo"/>
              </a:rPr>
              <a:t>체형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544568"/>
            <a:ext cx="3291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33"/>
                </a:solidFill>
                <a:latin typeface="Apple SD Gothic Neo"/>
              </a:rPr>
              <a:t>신체 정보 결합
체형별 코디 추천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8736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77788"/>
                </a:solidFill>
                <a:latin typeface="Apple SD Gothic Neo"/>
              </a:rPr>
              <a:t>패션 시대 분류 및 코디 추천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